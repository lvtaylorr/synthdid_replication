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7" r:id="rId2"/>
    <p:sldId id="297" r:id="rId3"/>
    <p:sldId id="298" r:id="rId4"/>
    <p:sldId id="299" r:id="rId5"/>
    <p:sldId id="300" r:id="rId6"/>
    <p:sldId id="301" r:id="rId7"/>
    <p:sldId id="305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71472"/>
  </p:normalViewPr>
  <p:slideViewPr>
    <p:cSldViewPr snapToGrid="0" snapToObjects="1">
      <p:cViewPr varScale="1">
        <p:scale>
          <a:sx n="78" d="100"/>
          <a:sy n="78" d="100"/>
        </p:scale>
        <p:origin x="3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130CA-42DC-9D4E-B765-1BD07511F9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CB897-B720-CD4D-9459-35AE8F2EB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48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sz="1200" b="0" i="0" dirty="0">
                <a:solidFill>
                  <a:srgbClr val="2A2A2A"/>
                </a:solidFill>
              </a:rPr>
              <a:t> With just one state treated, standard regression and </a:t>
            </a:r>
            <a:r>
              <a:rPr lang="en-US" sz="1200" b="0" i="0" dirty="0" err="1">
                <a:solidFill>
                  <a:srgbClr val="2A2A2A"/>
                </a:solidFill>
              </a:rPr>
              <a:t>DiD</a:t>
            </a:r>
            <a:r>
              <a:rPr lang="en-US" sz="1200" b="0" i="0" dirty="0">
                <a:solidFill>
                  <a:srgbClr val="2A2A2A"/>
                </a:solidFill>
              </a:rPr>
              <a:t> struggle to isolate cause from coincidence — you can't easily tell whether smoking fell because of the tax or because of some other California-specific trend.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CB897-B720-CD4D-9459-35AE8F2EBD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01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dirty="0">
                <a:solidFill>
                  <a:srgbClr val="2A2A2A"/>
                </a:solidFill>
              </a:rPr>
              <a:t>Gets the best of both worlds: good balance AND formal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CB897-B720-CD4D-9459-35AE8F2EBD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11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CB897-B720-CD4D-9459-35AE8F2EBD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81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2A2A2A"/>
                </a:solidFill>
              </a:rPr>
              <a:t>Tab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>
              <a:solidFill>
                <a:srgbClr val="2A2A2A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2A2A2A"/>
                </a:solidFill>
              </a:rPr>
              <a:t>
SDID's estimate is the most credible because it directly tests and corrects for pre-trend imbalance.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CB897-B720-CD4D-9459-35AE8F2EBD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84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Conclusion:</a:t>
            </a:r>
          </a:p>
          <a:p>
            <a:r>
              <a:rPr lang="en-US" sz="1200" dirty="0"/>
              <a:t>• Proposition 99 reduced smoking by ~15.6 packs/person/year — a real, meaningful effect.</a:t>
            </a:r>
          </a:p>
          <a:p>
            <a:r>
              <a:rPr lang="en-US" sz="1200" dirty="0"/>
              <a:t>• Estimator choice matters enormously: estimates range from −11 to −27 across five methods.</a:t>
            </a:r>
          </a:p>
          <a:p>
            <a:r>
              <a:rPr lang="en-US" sz="1200" dirty="0"/>
              <a:t>• SDID is more credible than DiD or SC alone because it earns the parallel-trends assumption rather than assuming it.</a:t>
            </a:r>
          </a:p>
          <a:p>
            <a:r>
              <a:rPr lang="en-US" sz="1200" dirty="0"/>
              <a:t>• Full replication revealed a gap: 'code is available' ≠ 'code reproduces the results' — especially across languages.</a:t>
            </a:r>
          </a:p>
          <a:p>
            <a:endParaRPr lang="en-US" sz="1200" dirty="0"/>
          </a:p>
          <a:p>
            <a:r>
              <a:rPr lang="en-US" sz="1200" dirty="0"/>
              <a:t>Challenges encountered during replication:</a:t>
            </a:r>
          </a:p>
          <a:p>
            <a:r>
              <a:rPr lang="en-US" sz="1200" dirty="0"/>
              <a:t>• No Python package — Authors only released an R package. Two Python ports exist but one fails to install and the other uses a different regularization method, shifting the estimate from −15.6 to −19.8.</a:t>
            </a:r>
          </a:p>
          <a:p>
            <a:r>
              <a:rPr lang="en-US" sz="1200" dirty="0"/>
              <a:t>• Implemented from scratch — Had to translate the authors' R source code (R/solver.R) line-by-line into NumPy to reproduce the correct estimate.</a:t>
            </a:r>
          </a:p>
          <a:p>
            <a:r>
              <a:rPr lang="en-US" sz="1200" dirty="0"/>
              <a:t>• MC not replicable — Matrix Completion requires a separate R package with no Python equivalent.</a:t>
            </a:r>
          </a:p>
          <a:p>
            <a:r>
              <a:rPr lang="en-US" sz="1200" dirty="0"/>
              <a:t>• Slow standard errors — Placebo SE reruns the full algorithm 200 times — about 30 seconds per estimator.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CB897-B720-CD4D-9459-35AE8F2EBD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7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13256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>
                <a:solidFill>
                  <a:srgbClr val="7A1F2B"/>
                </a:solidFill>
                <a:latin typeface="Georgia"/>
              </a:rPr>
              <a:t>Synthetic Difference-in-Differences</a:t>
            </a:r>
          </a:p>
          <a:p>
            <a:pPr algn="l"/>
            <a:r>
              <a:rPr lang="en-US" sz="2000" b="0" i="1" dirty="0">
                <a:solidFill>
                  <a:srgbClr val="6B5B4F"/>
                </a:solidFill>
                <a:latin typeface="Georgia"/>
              </a:rPr>
              <a:t>American Economic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A2A2A"/>
                </a:solidFill>
                <a:latin typeface="Georgia"/>
              </a:rPr>
              <a:t>Arkhangelsky, Athey, Hirshberg, Imbens &amp; Wager (2021)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58393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2A2A2A"/>
                </a:solidFill>
                <a:latin typeface="Georgia"/>
              </a:rPr>
              <a:t>Lauren Taylor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731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6B5B4F"/>
                </a:solidFill>
                <a:latin typeface="Georgia"/>
              </a:rPr>
              <a:t>1 / 10</a:t>
            </a:r>
          </a:p>
        </p:txBody>
      </p:sp>
      <p:sp>
        <p:nvSpPr>
          <p:cNvPr id="4" name="TitleRule">
            <a:extLst>
              <a:ext uri="{FF2B5EF4-FFF2-40B4-BE49-F238E27FC236}">
                <a16:creationId xmlns:a16="http://schemas.microsoft.com/office/drawing/2014/main" id="{13791B53-A974-EE42-BAF3-2CC89DDC95A0}"/>
              </a:ext>
            </a:extLst>
          </p:cNvPr>
          <p:cNvSpPr/>
          <p:nvPr/>
        </p:nvSpPr>
        <p:spPr>
          <a:xfrm>
            <a:off x="546100" y="2946400"/>
            <a:ext cx="1524000" cy="38100"/>
          </a:xfrm>
          <a:prstGeom prst="rect">
            <a:avLst/>
          </a:prstGeom>
          <a:solidFill>
            <a:srgbClr val="7A1F2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66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0243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A1F2B"/>
                </a:solidFill>
              </a:rPr>
              <a:t>Did California's Proposition 99 cigarette tax reduce smoking?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473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2A2A2A"/>
                </a:solidFill>
              </a:rPr>
              <a:t>Proposition 99 (1989) raised California's cigarette tax by 25 cents per pack.</a:t>
            </a:r>
            <a:endParaRPr lang="en-US" sz="1800" b="0" i="0" dirty="0">
              <a:solidFill>
                <a:srgbClr val="2A2A2A"/>
              </a:solidFill>
            </a:endParaRPr>
          </a:p>
          <a:p>
            <a:pPr algn="l"/>
            <a:r>
              <a:rPr sz="1800" b="0" i="0" dirty="0">
                <a:solidFill>
                  <a:srgbClr val="2A2A2A"/>
                </a:solidFill>
              </a:rPr>
              <a:t>
The paper asks: how large was the causal effect on per-capita cigarette sales?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44620"/>
            <a:ext cx="4331776" cy="1744334"/>
          </a:xfrm>
          <a:prstGeom prst="rect">
            <a:avLst/>
          </a:prstGeom>
          <a:solidFill>
            <a:srgbClr val="ED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0453"/>
            <a:ext cx="1078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7A1F2B"/>
                </a:solidFill>
              </a:rPr>
              <a:t>The challenge</a:t>
            </a:r>
            <a:r>
              <a:rPr lang="en-US" sz="2400" b="1" i="0" dirty="0">
                <a:solidFill>
                  <a:srgbClr val="7A1F2B"/>
                </a:solidFill>
              </a:rPr>
              <a:t>:</a:t>
            </a:r>
            <a:endParaRPr sz="2400" b="1" i="0" dirty="0">
              <a:solidFill>
                <a:srgbClr val="7A1F2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4726325"/>
            <a:ext cx="3777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2A2A2A"/>
                </a:solidFill>
              </a:rPr>
              <a:t>California is the only treated unit</a:t>
            </a:r>
            <a:r>
              <a:rPr sz="1600" b="0" i="0" dirty="0">
                <a:solidFill>
                  <a:srgbClr val="2A2A2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A2A2A"/>
                </a:solidFill>
              </a:rPr>
              <a:t>2 / 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4712C0-BBD8-D591-3E0E-C618882B1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649" y="3761740"/>
            <a:ext cx="4346111" cy="2897407"/>
          </a:xfrm>
          <a:prstGeom prst="rect">
            <a:avLst/>
          </a:prstGeom>
        </p:spPr>
      </p:pic>
      <p:sp>
        <p:nvSpPr>
          <p:cNvPr id="11" name="HeaderTitle"/>
          <p:cNvSpPr txBox="1"/>
          <p:nvPr/>
        </p:nvSpPr>
        <p:spPr>
          <a:xfrm>
            <a:off x="546100" y="736600"/>
            <a:ext cx="10972800" cy="673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3800" b="1" i="0" dirty="0">
                <a:solidFill>
                  <a:srgbClr val="7A1F2B"/>
                </a:solidFill>
                <a:latin typeface="Georgia"/>
              </a:rPr>
              <a:t>The Research Question</a:t>
            </a:r>
          </a:p>
        </p:txBody>
      </p:sp>
      <p:sp>
        <p:nvSpPr>
          <p:cNvPr id="12" name="HeaderRule"/>
          <p:cNvSpPr/>
          <p:nvPr/>
        </p:nvSpPr>
        <p:spPr>
          <a:xfrm>
            <a:off x="546100" y="1600200"/>
            <a:ext cx="1371600" cy="381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017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199" y="2024380"/>
            <a:ext cx="5500053" cy="3509592"/>
          </a:xfrm>
          <a:prstGeom prst="rect">
            <a:avLst/>
          </a:prstGeom>
          <a:solidFill>
            <a:srgbClr val="ED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2024380"/>
            <a:ext cx="3657600" cy="5029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070100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</a:rPr>
              <a:t>Synthetic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64460"/>
            <a:ext cx="467506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</a:pPr>
            <a:r>
              <a:rPr sz="2000" b="0" i="0" dirty="0">
                <a:solidFill>
                  <a:srgbClr val="2A2A2A"/>
                </a:solidFill>
              </a:rPr>
              <a:t>Builds a fake 'California' as a weighted average of other states that matched California's pre-1989 smoking trend</a:t>
            </a:r>
            <a:endParaRPr lang="en-US" sz="2000" b="0" i="0" dirty="0">
              <a:solidFill>
                <a:srgbClr val="2A2A2A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n-US" sz="2000" dirty="0">
                <a:solidFill>
                  <a:srgbClr val="2A2A2A"/>
                </a:solidFill>
              </a:rPr>
              <a:t>Produces </a:t>
            </a:r>
            <a:r>
              <a:rPr sz="2000" b="0" i="0" dirty="0">
                <a:solidFill>
                  <a:srgbClr val="2A2A2A"/>
                </a:solidFill>
              </a:rPr>
              <a:t>no standard errors, so you can't test statistical significance.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574" y="2024379"/>
            <a:ext cx="5637211" cy="3509593"/>
          </a:xfrm>
          <a:prstGeom prst="rect">
            <a:avLst/>
          </a:prstGeom>
          <a:solidFill>
            <a:srgbClr val="ED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31574" y="2047241"/>
            <a:ext cx="3657600" cy="5029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8734" y="2101187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</a:rPr>
              <a:t>Difference-in-Difference</a:t>
            </a:r>
            <a:r>
              <a:rPr sz="1500" b="1" i="0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34" y="2662135"/>
            <a:ext cx="536289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</a:pPr>
            <a:r>
              <a:rPr sz="2000" b="0" i="0" dirty="0">
                <a:solidFill>
                  <a:srgbClr val="2A2A2A"/>
                </a:solidFill>
              </a:rPr>
              <a:t>Compares the before-vs-after change in California to the before-vs-after change in other states</a:t>
            </a:r>
            <a:endParaRPr lang="en-US" sz="2000" dirty="0">
              <a:solidFill>
                <a:srgbClr val="2A2A2A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n-US" sz="2000" dirty="0">
                <a:solidFill>
                  <a:srgbClr val="2A2A2A"/>
                </a:solidFill>
              </a:rPr>
              <a:t>A</a:t>
            </a:r>
            <a:r>
              <a:rPr sz="2000" b="0" i="0" dirty="0">
                <a:solidFill>
                  <a:srgbClr val="2A2A2A"/>
                </a:solidFill>
              </a:rPr>
              <a:t>ssumes all states would have trended identically without the tax</a:t>
            </a:r>
          </a:p>
        </p:txBody>
      </p:sp>
      <p:sp>
        <p:nvSpPr>
          <p:cNvPr id="12" name="HeaderTitle"/>
          <p:cNvSpPr txBox="1"/>
          <p:nvPr/>
        </p:nvSpPr>
        <p:spPr>
          <a:xfrm>
            <a:off x="546100" y="736600"/>
            <a:ext cx="10972800" cy="673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3800" b="1" i="0" dirty="0">
                <a:solidFill>
                  <a:srgbClr val="7A1F2B"/>
                </a:solidFill>
                <a:latin typeface="Georgia"/>
              </a:rPr>
              <a:t>Other Methods</a:t>
            </a:r>
          </a:p>
        </p:txBody>
      </p:sp>
      <p:sp>
        <p:nvSpPr>
          <p:cNvPr id="13" name="HeaderRule"/>
          <p:cNvSpPr/>
          <p:nvPr/>
        </p:nvSpPr>
        <p:spPr>
          <a:xfrm>
            <a:off x="546100" y="1600200"/>
            <a:ext cx="1371600" cy="381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075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A2A2A"/>
                </a:solidFill>
              </a:rPr>
              <a:t>4 /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C187C6-2E19-B386-1E4D-000971C7DD85}"/>
              </a:ext>
            </a:extLst>
          </p:cNvPr>
          <p:cNvSpPr/>
          <p:nvPr/>
        </p:nvSpPr>
        <p:spPr>
          <a:xfrm>
            <a:off x="210479" y="2006600"/>
            <a:ext cx="11612880" cy="2554514"/>
          </a:xfrm>
          <a:prstGeom prst="rect">
            <a:avLst/>
          </a:prstGeom>
          <a:solidFill>
            <a:srgbClr val="ED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754430-33B8-3A89-39C1-DD9ED1EDAF61}"/>
              </a:ext>
            </a:extLst>
          </p:cNvPr>
          <p:cNvSpPr txBox="1"/>
          <p:nvPr/>
        </p:nvSpPr>
        <p:spPr>
          <a:xfrm>
            <a:off x="576239" y="2540000"/>
            <a:ext cx="463119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2A2A2A"/>
                </a:solidFill>
              </a:rPr>
              <a:t>Does both at once: reweights control states AND time periods so that the comparison group closely matches California's pre-1989 trend, then applies </a:t>
            </a:r>
            <a:r>
              <a:rPr sz="2000" b="0" i="0" dirty="0" err="1">
                <a:solidFill>
                  <a:srgbClr val="2A2A2A"/>
                </a:solidFill>
              </a:rPr>
              <a:t>DiD</a:t>
            </a:r>
            <a:r>
              <a:rPr sz="2000" b="0" i="0" dirty="0">
                <a:solidFill>
                  <a:srgbClr val="2A2A2A"/>
                </a:solidFill>
              </a:rPr>
              <a:t>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DF07F5-C938-622D-19A3-33F075A96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430" y="2959100"/>
            <a:ext cx="65532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HeaderTitle"/>
          <p:cNvSpPr txBox="1"/>
          <p:nvPr/>
        </p:nvSpPr>
        <p:spPr>
          <a:xfrm>
            <a:off x="546100" y="736600"/>
            <a:ext cx="11430000" cy="673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800" b="1" i="0" dirty="0">
                <a:solidFill>
                  <a:srgbClr val="7A1F2B"/>
                </a:solidFill>
                <a:latin typeface="Georgia"/>
              </a:rPr>
              <a:t>The Method: Synthetic Difference-in-Differences (SDID)</a:t>
            </a:r>
          </a:p>
        </p:txBody>
      </p:sp>
      <p:sp>
        <p:nvSpPr>
          <p:cNvPr id="1028" name="HeaderRule"/>
          <p:cNvSpPr/>
          <p:nvPr/>
        </p:nvSpPr>
        <p:spPr>
          <a:xfrm>
            <a:off x="546100" y="1600200"/>
            <a:ext cx="1371600" cy="381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9137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2024380"/>
            <a:ext cx="2651760" cy="1998980"/>
          </a:xfrm>
          <a:prstGeom prst="rect">
            <a:avLst/>
          </a:prstGeom>
          <a:solidFill>
            <a:srgbClr val="ED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1615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A1F2B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673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A2A"/>
                </a:solidFill>
              </a:rPr>
              <a:t>U.S. States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2024380"/>
            <a:ext cx="2651760" cy="1998980"/>
          </a:xfrm>
          <a:prstGeom prst="rect">
            <a:avLst/>
          </a:prstGeom>
          <a:solidFill>
            <a:srgbClr val="ED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21615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A1F2B"/>
                </a:solidFill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31673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A2A"/>
                </a:solidFill>
              </a:rPr>
              <a:t>Years (1970–2000)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24380"/>
            <a:ext cx="2651760" cy="1998980"/>
          </a:xfrm>
          <a:prstGeom prst="rect">
            <a:avLst/>
          </a:prstGeom>
          <a:solidFill>
            <a:srgbClr val="ED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1615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A1F2B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673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A2A2A"/>
                </a:solidFill>
              </a:rPr>
              <a:t>Treated State (CA)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93260"/>
            <a:ext cx="11247120" cy="1998980"/>
          </a:xfrm>
          <a:prstGeom prst="rect">
            <a:avLst/>
          </a:prstGeom>
          <a:solidFill>
            <a:srgbClr val="ED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6304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A1F2B"/>
                </a:solidFill>
              </a:rPr>
              <a:t>Key 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876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A2A2A"/>
                </a:solidFill>
              </a:rPr>
              <a:t>Outcome: PacksPerCapita — annual per-capita cigarette sales (packs/year)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991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A2A2A"/>
                </a:solidFill>
              </a:rPr>
              <a:t>Treatment: binary indicator = 1 for California from 1989 onward, 0 otherwise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105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A2A2A"/>
                </a:solidFill>
              </a:rPr>
              <a:t>Pre-treatment period: 1970–1988 (19 years)     Post-treatment period: 1989–2000 (12 years)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A2A2A"/>
                </a:solidFill>
              </a:rPr>
              <a:t>5 / 10</a:t>
            </a:r>
          </a:p>
        </p:txBody>
      </p:sp>
      <p:sp>
        <p:nvSpPr>
          <p:cNvPr id="23" name="HeaderTitle"/>
          <p:cNvSpPr txBox="1"/>
          <p:nvPr/>
        </p:nvSpPr>
        <p:spPr>
          <a:xfrm>
            <a:off x="546100" y="736600"/>
            <a:ext cx="10972800" cy="673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3800" b="1" i="0" dirty="0">
                <a:solidFill>
                  <a:srgbClr val="7A1F2B"/>
                </a:solidFill>
                <a:latin typeface="Georgia"/>
              </a:rPr>
              <a:t>The Data</a:t>
            </a:r>
          </a:p>
        </p:txBody>
      </p:sp>
      <p:sp>
        <p:nvSpPr>
          <p:cNvPr id="24" name="HeaderRule"/>
          <p:cNvSpPr/>
          <p:nvPr/>
        </p:nvSpPr>
        <p:spPr>
          <a:xfrm>
            <a:off x="546100" y="1600200"/>
            <a:ext cx="1371600" cy="381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3062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/>
          <p:cNvSpPr txBox="1"/>
          <p:nvPr/>
        </p:nvSpPr>
        <p:spPr>
          <a:xfrm>
            <a:off x="1121156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A2A2A"/>
                </a:solidFill>
              </a:rPr>
              <a:t>6 / 10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D448D48-F361-B591-D6E7-3DE546FCC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81968"/>
            <a:ext cx="4857939" cy="2404184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66C5CBD6-8226-AA94-698D-833B497574F6}"/>
              </a:ext>
            </a:extLst>
          </p:cNvPr>
          <p:cNvSpPr/>
          <p:nvPr/>
        </p:nvSpPr>
        <p:spPr>
          <a:xfrm>
            <a:off x="546100" y="5257800"/>
            <a:ext cx="11247120" cy="14630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A26A39-B792-48B9-2FB3-DBB4202F42B2}"/>
              </a:ext>
            </a:extLst>
          </p:cNvPr>
          <p:cNvSpPr txBox="1"/>
          <p:nvPr/>
        </p:nvSpPr>
        <p:spPr>
          <a:xfrm>
            <a:off x="546100" y="5486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Proposition 99 reduced cigarette smoking by ~15.6 packs per person per year.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128784-5B7D-71FB-983B-4C9CA6E95EA8}"/>
              </a:ext>
            </a:extLst>
          </p:cNvPr>
          <p:cNvSpPr txBox="1"/>
          <p:nvPr/>
        </p:nvSpPr>
        <p:spPr>
          <a:xfrm>
            <a:off x="546100" y="6035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That is about 1.3 fewer packs per month — a meaningful reduction.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3482546D-4CCF-505A-C133-45B274A64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465" y="2647410"/>
            <a:ext cx="5943600" cy="204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E5B179F-5831-FCF6-179C-9D4B53B2DCBF}"/>
              </a:ext>
            </a:extLst>
          </p:cNvPr>
          <p:cNvSpPr txBox="1"/>
          <p:nvPr/>
        </p:nvSpPr>
        <p:spPr>
          <a:xfrm>
            <a:off x="365760" y="2035229"/>
            <a:ext cx="3099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 Results: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0AABE3-E62E-35D0-56DF-F635B4D4B535}"/>
              </a:ext>
            </a:extLst>
          </p:cNvPr>
          <p:cNvSpPr txBox="1"/>
          <p:nvPr/>
        </p:nvSpPr>
        <p:spPr>
          <a:xfrm>
            <a:off x="5852160" y="2093412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Paper’s Results</a:t>
            </a:r>
          </a:p>
        </p:txBody>
      </p:sp>
      <p:sp>
        <p:nvSpPr>
          <p:cNvPr id="2055" name="HeaderTitle"/>
          <p:cNvSpPr txBox="1"/>
          <p:nvPr/>
        </p:nvSpPr>
        <p:spPr>
          <a:xfrm>
            <a:off x="546100" y="736600"/>
            <a:ext cx="10972800" cy="673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3800" b="1" i="0" dirty="0">
                <a:solidFill>
                  <a:srgbClr val="7A1F2B"/>
                </a:solidFill>
                <a:latin typeface="Georgia"/>
              </a:rPr>
              <a:t>Table Replication</a:t>
            </a:r>
          </a:p>
        </p:txBody>
      </p:sp>
      <p:sp>
        <p:nvSpPr>
          <p:cNvPr id="2056" name="HeaderRule"/>
          <p:cNvSpPr/>
          <p:nvPr/>
        </p:nvSpPr>
        <p:spPr>
          <a:xfrm>
            <a:off x="546100" y="1600200"/>
            <a:ext cx="1371600" cy="381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2214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31520"/>
            <a:ext cx="109728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800" b="1" i="0" dirty="0">
                <a:solidFill>
                  <a:srgbClr val="7A1F2B"/>
                </a:solidFill>
                <a:latin typeface="Georgia"/>
              </a:rPr>
              <a:t>Challenges +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00200"/>
            <a:ext cx="1371600" cy="3657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794000"/>
            <a:ext cx="320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7559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1F2B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300" y="2772369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A2A2A"/>
                </a:solidFill>
              </a:rPr>
              <a:t>Proposition 99 reduced smoking by ~15.6 packs/person/year — a real, meaningful effect.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56000"/>
            <a:ext cx="320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5179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1F2B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318000"/>
            <a:ext cx="320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2799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1F2B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300" y="35560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A2A2A"/>
                </a:solidFill>
              </a:rPr>
              <a:t>SDID is more credible than </a:t>
            </a:r>
            <a:r>
              <a:rPr sz="1500" b="0" i="0" dirty="0" err="1">
                <a:solidFill>
                  <a:srgbClr val="2A2A2A"/>
                </a:solidFill>
              </a:rPr>
              <a:t>DiD</a:t>
            </a:r>
            <a:r>
              <a:rPr sz="1500" b="0" i="0" dirty="0">
                <a:solidFill>
                  <a:srgbClr val="2A2A2A"/>
                </a:solidFill>
              </a:rPr>
              <a:t> or SC alone because it earns the parallel-trends assumption rather than assuming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300" y="4314875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i="0" dirty="0">
                <a:solidFill>
                  <a:srgbClr val="2A2A2A"/>
                </a:solidFill>
              </a:rPr>
              <a:t>Need for working Python replication packages</a:t>
            </a:r>
            <a:r>
              <a:rPr sz="1500" b="0" i="0" dirty="0">
                <a:solidFill>
                  <a:srgbClr val="2A2A2A"/>
                </a:solidFill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A2A2A"/>
                </a:solidFill>
              </a:rPr>
              <a:t>10 / 10</a:t>
            </a:r>
          </a:p>
        </p:txBody>
      </p:sp>
      <p:sp>
        <p:nvSpPr>
          <p:cNvPr id="17" name="ChallengesRule"/>
          <p:cNvSpPr/>
          <p:nvPr/>
        </p:nvSpPr>
        <p:spPr>
          <a:xfrm>
            <a:off x="546100" y="1778000"/>
            <a:ext cx="762000" cy="254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ChallengesSummary"/>
          <p:cNvSpPr txBox="1"/>
          <p:nvPr/>
        </p:nvSpPr>
        <p:spPr>
          <a:xfrm>
            <a:off x="546100" y="1905000"/>
            <a:ext cx="10972800" cy="76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n-US" b="1" i="0" dirty="0">
                <a:solidFill>
                  <a:srgbClr val="7A1F2B"/>
                </a:solidFill>
                <a:latin typeface="Georgia"/>
              </a:rPr>
              <a:t>Challenges encountered</a:t>
            </a:r>
          </a:p>
          <a:p>
            <a:pPr algn="l">
              <a:buNone/>
            </a:pPr>
            <a:r>
              <a:rPr lang="en-US" sz="1600" b="0" i="0" dirty="0">
                <a:solidFill>
                  <a:srgbClr val="2A2A2A"/>
                </a:solidFill>
              </a:rPr>
              <a:t>No Python package  ·  Implemented from scratch  ·  MC not replicable  ·  Slow standard errors</a:t>
            </a:r>
          </a:p>
        </p:txBody>
      </p:sp>
    </p:spTree>
    <p:extLst>
      <p:ext uri="{BB962C8B-B14F-4D97-AF65-F5344CB8AC3E}">
        <p14:creationId xmlns:p14="http://schemas.microsoft.com/office/powerpoint/2010/main" val="1816982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7C0DD81-D033-E740-BBAE-CBBEC4FDF4D5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309ee7a8-388b-4cbe-9997-356d93cad6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619</Words>
  <Application>Microsoft Macintosh PowerPoint</Application>
  <PresentationFormat>Custom</PresentationFormat>
  <Paragraphs>72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Lauren Taylor</cp:lastModifiedBy>
  <cp:revision>2</cp:revision>
  <dcterms:created xsi:type="dcterms:W3CDTF">2013-01-27T09:14:16Z</dcterms:created>
  <dcterms:modified xsi:type="dcterms:W3CDTF">2026-06-04T15:17:47Z</dcterms:modified>
  <cp:category/>
</cp:coreProperties>
</file>